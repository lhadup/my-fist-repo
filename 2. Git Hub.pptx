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696" y="-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97459-18BF-479D-A76F-D22AF709032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BBBD0-4D60-4604-8416-EF49CFF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6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Repository is a storage</a:t>
            </a:r>
            <a:r>
              <a:rPr lang="en-US" baseline="0" dirty="0" smtClean="0"/>
              <a:t> place for your project files and code.</a:t>
            </a:r>
            <a:br>
              <a:rPr lang="en-US" baseline="0" dirty="0" smtClean="0"/>
            </a:br>
            <a:r>
              <a:rPr lang="en-US" baseline="0" dirty="0" smtClean="0"/>
              <a:t>Commits means saving changes with a message</a:t>
            </a:r>
          </a:p>
          <a:p>
            <a:r>
              <a:rPr lang="en-US" baseline="0" dirty="0" smtClean="0"/>
              <a:t>A pull request asks to merge branch changes into the main branch.</a:t>
            </a:r>
          </a:p>
          <a:p>
            <a:r>
              <a:rPr lang="en-US" baseline="0" dirty="0" smtClean="0"/>
              <a:t>Issues are used to report bugs, problems, suggestions and tasks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BBD0-4D60-4604-8416-EF49CFF583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09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ca://s/?q=Explain_Pull_Requests_in_version_control" TargetMode="External"/><Relationship Id="rId13" Type="http://schemas.openxmlformats.org/officeDocument/2006/relationships/hyperlink" Target="ca://s/?q=Explain_Discussions_in_version_control" TargetMode="External"/><Relationship Id="rId3" Type="http://schemas.openxmlformats.org/officeDocument/2006/relationships/hyperlink" Target="ca://s/?q=Explain_Feature_in_version_control" TargetMode="External"/><Relationship Id="rId7" Type="http://schemas.openxmlformats.org/officeDocument/2006/relationships/hyperlink" Target="ca://s/?q=Explain_Branches_in_version_control" TargetMode="External"/><Relationship Id="rId12" Type="http://schemas.openxmlformats.org/officeDocument/2006/relationships/hyperlink" Target="ca://s/?q=Explain_Collaborator_in_version_contro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ca://s/?q=Explain_Commits_in_version_control" TargetMode="External"/><Relationship Id="rId11" Type="http://schemas.openxmlformats.org/officeDocument/2006/relationships/hyperlink" Target="ca://s/?q=Explain_README_in_version_control" TargetMode="External"/><Relationship Id="rId5" Type="http://schemas.openxmlformats.org/officeDocument/2006/relationships/hyperlink" Target="ca://s/?q=Explain_Repositories_in_version_control" TargetMode="External"/><Relationship Id="rId10" Type="http://schemas.openxmlformats.org/officeDocument/2006/relationships/hyperlink" Target="ca://s/?q=Explain_Projects_in_version_control" TargetMode="External"/><Relationship Id="rId4" Type="http://schemas.openxmlformats.org/officeDocument/2006/relationships/hyperlink" Target="ca://s/?q=Explain_Explanation_in_version_control" TargetMode="External"/><Relationship Id="rId9" Type="http://schemas.openxmlformats.org/officeDocument/2006/relationships/hyperlink" Target="ca://s/?q=Explain_Issues_in_version_contro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latin typeface="Comic Sans MS" pitchFamily="66" charset="0"/>
              </a:rPr>
              <a:t>GitHub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Comic Sans MS" pitchFamily="66" charset="0"/>
              </a:rPr>
              <a:t>Chapter 7</a:t>
            </a:r>
            <a:endParaRPr lang="en-US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5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mic Sans MS" pitchFamily="66" charset="0"/>
              </a:rPr>
              <a:t>Introduction to </a:t>
            </a:r>
            <a:r>
              <a:rPr lang="en-US" b="1" dirty="0" err="1">
                <a:latin typeface="Comic Sans MS" pitchFamily="66" charset="0"/>
              </a:rPr>
              <a:t>GitHub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3379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err="1" smtClean="0">
                <a:latin typeface="Comic Sans MS" pitchFamily="66" charset="0"/>
              </a:rPr>
              <a:t>GitHub</a:t>
            </a: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>
                <a:latin typeface="Comic Sans MS" pitchFamily="66" charset="0"/>
              </a:rPr>
              <a:t>is an </a:t>
            </a:r>
            <a:r>
              <a:rPr lang="en-US" b="1" dirty="0">
                <a:latin typeface="Comic Sans MS" pitchFamily="66" charset="0"/>
              </a:rPr>
              <a:t>online platform</a:t>
            </a:r>
            <a:r>
              <a:rPr lang="en-US" dirty="0">
                <a:latin typeface="Comic Sans MS" pitchFamily="66" charset="0"/>
              </a:rPr>
              <a:t> designed for programmers and developers to </a:t>
            </a:r>
            <a:r>
              <a:rPr lang="en-US" b="1" dirty="0">
                <a:latin typeface="Comic Sans MS" pitchFamily="66" charset="0"/>
              </a:rPr>
              <a:t>store</a:t>
            </a:r>
            <a:r>
              <a:rPr lang="en-US" dirty="0">
                <a:latin typeface="Comic Sans MS" pitchFamily="66" charset="0"/>
              </a:rPr>
              <a:t>, </a:t>
            </a:r>
            <a:r>
              <a:rPr lang="en-US" b="1" dirty="0">
                <a:latin typeface="Comic Sans MS" pitchFamily="66" charset="0"/>
              </a:rPr>
              <a:t>share</a:t>
            </a:r>
            <a:r>
              <a:rPr lang="en-US" dirty="0">
                <a:latin typeface="Comic Sans MS" pitchFamily="66" charset="0"/>
              </a:rPr>
              <a:t>, and </a:t>
            </a:r>
            <a:r>
              <a:rPr lang="en-US" b="1" dirty="0" smtClean="0">
                <a:latin typeface="Comic Sans MS" pitchFamily="66" charset="0"/>
              </a:rPr>
              <a:t>manage </a:t>
            </a:r>
            <a:r>
              <a:rPr lang="en-US" dirty="0" smtClean="0">
                <a:latin typeface="Comic Sans MS" pitchFamily="66" charset="0"/>
              </a:rPr>
              <a:t>their </a:t>
            </a:r>
            <a:r>
              <a:rPr lang="en-US" dirty="0">
                <a:latin typeface="Comic Sans MS" pitchFamily="66" charset="0"/>
              </a:rPr>
              <a:t>code.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It </a:t>
            </a:r>
            <a:r>
              <a:rPr lang="en-US" dirty="0">
                <a:latin typeface="Comic Sans MS" pitchFamily="66" charset="0"/>
              </a:rPr>
              <a:t>uses a system called </a:t>
            </a:r>
            <a:r>
              <a:rPr lang="en-US" b="1" dirty="0" err="1">
                <a:latin typeface="Comic Sans MS" pitchFamily="66" charset="0"/>
              </a:rPr>
              <a:t>Git</a:t>
            </a:r>
            <a:r>
              <a:rPr lang="en-US" dirty="0">
                <a:latin typeface="Comic Sans MS" pitchFamily="66" charset="0"/>
              </a:rPr>
              <a:t> to track changes in projects, which makes collaboration much easier.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 smtClean="0">
                <a:latin typeface="Comic Sans MS" pitchFamily="66" charset="0"/>
              </a:rPr>
              <a:t>GitHub</a:t>
            </a: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>
                <a:latin typeface="Comic Sans MS" pitchFamily="66" charset="0"/>
              </a:rPr>
              <a:t>functions primarily as a </a:t>
            </a:r>
            <a:r>
              <a:rPr lang="en-US" b="1" dirty="0">
                <a:latin typeface="Comic Sans MS" pitchFamily="66" charset="0"/>
              </a:rPr>
              <a:t>Software as a Service (</a:t>
            </a:r>
            <a:r>
              <a:rPr lang="en-US" b="1" dirty="0" err="1">
                <a:latin typeface="Comic Sans MS" pitchFamily="66" charset="0"/>
              </a:rPr>
              <a:t>SaaS</a:t>
            </a:r>
            <a:r>
              <a:rPr lang="en-US" b="1" dirty="0">
                <a:latin typeface="Comic Sans MS" pitchFamily="66" charset="0"/>
              </a:rPr>
              <a:t>)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platform</a:t>
            </a:r>
            <a:r>
              <a:rPr lang="en-US" dirty="0">
                <a:latin typeface="Comic Sans MS" pitchFamily="66" charset="0"/>
              </a:rPr>
              <a:t>.</a:t>
            </a:r>
            <a:endParaRPr lang="en-US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17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050"/>
            <a:ext cx="8229600" cy="613171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Comic Sans MS" pitchFamily="66" charset="0"/>
              </a:rPr>
              <a:t>Features of </a:t>
            </a:r>
            <a:r>
              <a:rPr lang="en-US" sz="4000" dirty="0" err="1">
                <a:latin typeface="Comic Sans MS" pitchFamily="66" charset="0"/>
              </a:rPr>
              <a:t>GitHub</a:t>
            </a:r>
            <a:endParaRPr lang="en-US" sz="4000" dirty="0">
              <a:latin typeface="Comic Sans MS" pitchFamily="66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399508"/>
              </p:ext>
            </p:extLst>
          </p:nvPr>
        </p:nvGraphicFramePr>
        <p:xfrm>
          <a:off x="76200" y="590549"/>
          <a:ext cx="8991600" cy="44857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00200"/>
                <a:gridCol w="7391400"/>
              </a:tblGrid>
              <a:tr h="37092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  <a:hlinkClick r:id="rId3" action="ppaction://hlinkfile"/>
                        </a:rPr>
                        <a:t>Feature</a:t>
                      </a:r>
                      <a:endParaRPr lang="en-US" sz="1800" dirty="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  <a:hlinkClick r:id="rId4" action="ppaction://hlinkfile"/>
                        </a:rPr>
                        <a:t>Explanation</a:t>
                      </a:r>
                      <a:endParaRPr lang="en-US" sz="1800" dirty="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</a:tr>
              <a:tr h="391077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5" action="ppaction://hlinkfile"/>
                        </a:rPr>
                        <a:t>Repositories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Store project files and their full change history in one place.</a:t>
                      </a:r>
                    </a:p>
                  </a:txBody>
                  <a:tcPr marL="50658" marR="50658" marT="25329" marB="25329" anchor="ctr"/>
                </a:tc>
              </a:tr>
              <a:tr h="688987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6" action="ppaction://hlinkfile"/>
                        </a:rPr>
                        <a:t>Commits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Record a snapshot of your files at a certain time, with a message describing what changed.</a:t>
                      </a:r>
                    </a:p>
                  </a:txBody>
                  <a:tcPr marL="50658" marR="50658" marT="25329" marB="25329" anchor="ctr"/>
                </a:tc>
              </a:tr>
              <a:tr h="431886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7" action="ppaction://hlinkfile"/>
                        </a:rPr>
                        <a:t>Branches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Try new ideas safely without affecting the main code.</a:t>
                      </a:r>
                    </a:p>
                  </a:txBody>
                  <a:tcPr marL="50658" marR="50658" marT="25329" marB="25329" anchor="ctr"/>
                </a:tc>
              </a:tr>
              <a:tr h="326927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8" action="ppaction://hlinkfile"/>
                        </a:rPr>
                        <a:t>Pull Requests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Propose changes and get feedback before going into main.</a:t>
                      </a:r>
                    </a:p>
                  </a:txBody>
                  <a:tcPr marL="50658" marR="50658" marT="25329" marB="25329" anchor="ctr"/>
                </a:tc>
              </a:tr>
              <a:tr h="431886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9" action="ppaction://hlinkfile"/>
                        </a:rPr>
                        <a:t>Issues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Record bugs, tasks, and ideas with owners and due dates.</a:t>
                      </a:r>
                    </a:p>
                  </a:txBody>
                  <a:tcPr marL="50658" marR="50658" marT="25329" marB="25329" anchor="ctr"/>
                </a:tc>
              </a:tr>
              <a:tr h="431886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10" action="ppaction://hlinkfile"/>
                        </a:rPr>
                        <a:t>Projects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Plan work in To do, In progress, and Done columns.</a:t>
                      </a:r>
                    </a:p>
                  </a:txBody>
                  <a:tcPr marL="50658" marR="50658" marT="25329" marB="25329" anchor="ctr"/>
                </a:tc>
              </a:tr>
              <a:tr h="688987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11" action="ppaction://hlinkfile"/>
                        </a:rPr>
                        <a:t>README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Explain the project and provide guides or notes for users and teammates.</a:t>
                      </a:r>
                    </a:p>
                  </a:txBody>
                  <a:tcPr marL="50658" marR="50658" marT="25329" marB="25329" anchor="ctr"/>
                </a:tc>
              </a:tr>
              <a:tr h="352241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12" action="ppaction://hlinkfile"/>
                        </a:rPr>
                        <a:t>Collaborator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Control who can view, comment, or push changes to a repository.</a:t>
                      </a:r>
                    </a:p>
                  </a:txBody>
                  <a:tcPr marL="50658" marR="50658" marT="25329" marB="25329" anchor="ctr"/>
                </a:tc>
              </a:tr>
              <a:tr h="370924">
                <a:tc>
                  <a:txBody>
                    <a:bodyPr/>
                    <a:lstStyle/>
                    <a:p>
                      <a:r>
                        <a:rPr lang="en-US" sz="1800">
                          <a:latin typeface="Comic Sans MS" pitchFamily="66" charset="0"/>
                          <a:hlinkClick r:id="rId13" action="ppaction://hlinkfile"/>
                        </a:rPr>
                        <a:t>Discussions</a:t>
                      </a:r>
                      <a:endParaRPr lang="en-US" sz="1800">
                        <a:latin typeface="Comic Sans MS" pitchFamily="66" charset="0"/>
                      </a:endParaRPr>
                    </a:p>
                  </a:txBody>
                  <a:tcPr marL="50658" marR="50658" marT="25329" marB="25329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itchFamily="66" charset="0"/>
                        </a:rPr>
                        <a:t>Hold open-ended questions.</a:t>
                      </a:r>
                    </a:p>
                  </a:txBody>
                  <a:tcPr marL="50658" marR="50658" marT="25329" marB="2532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11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omic Sans MS" pitchFamily="66" charset="0"/>
              </a:rPr>
              <a:t>Advantages of </a:t>
            </a:r>
            <a:r>
              <a:rPr lang="en-US" sz="4000" dirty="0" err="1">
                <a:latin typeface="Comic Sans MS" pitchFamily="66" charset="0"/>
              </a:rPr>
              <a:t>GitHub</a:t>
            </a:r>
            <a:r>
              <a:rPr lang="en-US" sz="4000" dirty="0">
                <a:latin typeface="Comic Sans MS" pitchFamily="66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33799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It helps </a:t>
            </a:r>
            <a:r>
              <a:rPr lang="en-US" b="1" dirty="0">
                <a:latin typeface="Comic Sans MS" pitchFamily="66" charset="0"/>
              </a:rPr>
              <a:t>track changes </a:t>
            </a:r>
            <a:r>
              <a:rPr lang="en-US" dirty="0">
                <a:latin typeface="Comic Sans MS" pitchFamily="66" charset="0"/>
              </a:rPr>
              <a:t>in code using version control (</a:t>
            </a:r>
            <a:r>
              <a:rPr lang="en-US" dirty="0" err="1">
                <a:latin typeface="Comic Sans MS" pitchFamily="66" charset="0"/>
              </a:rPr>
              <a:t>Git</a:t>
            </a:r>
            <a:r>
              <a:rPr lang="en-US" dirty="0">
                <a:latin typeface="Comic Sans MS" pitchFamily="66" charset="0"/>
              </a:rPr>
              <a:t>).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It </a:t>
            </a:r>
            <a:r>
              <a:rPr lang="en-US" b="1" dirty="0">
                <a:latin typeface="Comic Sans MS" pitchFamily="66" charset="0"/>
              </a:rPr>
              <a:t>allows teamwork </a:t>
            </a:r>
            <a:r>
              <a:rPr lang="en-US" dirty="0">
                <a:latin typeface="Comic Sans MS" pitchFamily="66" charset="0"/>
              </a:rPr>
              <a:t>on the same project from different places.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It </a:t>
            </a:r>
            <a:r>
              <a:rPr lang="en-US" dirty="0">
                <a:latin typeface="Comic Sans MS" pitchFamily="66" charset="0"/>
              </a:rPr>
              <a:t>stores </a:t>
            </a:r>
            <a:r>
              <a:rPr lang="en-US" b="1" dirty="0" smtClean="0">
                <a:latin typeface="Comic Sans MS" pitchFamily="66" charset="0"/>
              </a:rPr>
              <a:t>files safely online </a:t>
            </a:r>
            <a:r>
              <a:rPr lang="en-US" dirty="0" smtClean="0">
                <a:latin typeface="Comic Sans MS" pitchFamily="66" charset="0"/>
              </a:rPr>
              <a:t>and </a:t>
            </a:r>
            <a:r>
              <a:rPr lang="en-US" dirty="0">
                <a:latin typeface="Comic Sans MS" pitchFamily="66" charset="0"/>
              </a:rPr>
              <a:t>can be accessed from anywhere.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It </a:t>
            </a:r>
            <a:r>
              <a:rPr lang="en-US" dirty="0">
                <a:latin typeface="Comic Sans MS" pitchFamily="66" charset="0"/>
              </a:rPr>
              <a:t>offers many free, </a:t>
            </a:r>
            <a:r>
              <a:rPr lang="en-US" b="1" dirty="0">
                <a:latin typeface="Comic Sans MS" pitchFamily="66" charset="0"/>
              </a:rPr>
              <a:t>open-source</a:t>
            </a:r>
            <a:r>
              <a:rPr lang="en-US" dirty="0">
                <a:latin typeface="Comic Sans MS" pitchFamily="66" charset="0"/>
              </a:rPr>
              <a:t> projects to learn from and contribute to.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It supports tools that help </a:t>
            </a:r>
            <a:r>
              <a:rPr lang="en-US" b="1" dirty="0" smtClean="0">
                <a:latin typeface="Comic Sans MS" pitchFamily="66" charset="0"/>
              </a:rPr>
              <a:t>automate testing </a:t>
            </a:r>
            <a:r>
              <a:rPr lang="en-US" dirty="0" smtClean="0">
                <a:latin typeface="Comic Sans MS" pitchFamily="66" charset="0"/>
              </a:rPr>
              <a:t>and </a:t>
            </a:r>
            <a:r>
              <a:rPr lang="en-US" b="1" dirty="0" smtClean="0">
                <a:latin typeface="Comic Sans MS" pitchFamily="66" charset="0"/>
              </a:rPr>
              <a:t>improve code quality</a:t>
            </a:r>
            <a:r>
              <a:rPr lang="en-US" dirty="0" smtClean="0">
                <a:latin typeface="Comic Sans MS" pitchFamily="66" charset="0"/>
              </a:rPr>
              <a:t>.</a:t>
            </a:r>
            <a:endParaRPr lang="en-US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12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mic Sans MS" pitchFamily="66" charset="0"/>
              </a:rPr>
              <a:t>Disadvantages of </a:t>
            </a:r>
            <a:r>
              <a:rPr lang="en-US" b="1" dirty="0" err="1">
                <a:latin typeface="Comic Sans MS" pitchFamily="66" charset="0"/>
              </a:rPr>
              <a:t>GitHub</a:t>
            </a:r>
            <a:r>
              <a:rPr lang="en-US" b="1" dirty="0">
                <a:latin typeface="Comic Sans MS" pitchFamily="66" charset="0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00151"/>
            <a:ext cx="8686800" cy="3394472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It </a:t>
            </a:r>
            <a:r>
              <a:rPr lang="en-US" b="1" dirty="0">
                <a:latin typeface="Comic Sans MS" pitchFamily="66" charset="0"/>
              </a:rPr>
              <a:t>can be hard </a:t>
            </a:r>
            <a:r>
              <a:rPr lang="en-US" dirty="0">
                <a:latin typeface="Comic Sans MS" pitchFamily="66" charset="0"/>
              </a:rPr>
              <a:t>to learn for beginners. </a:t>
            </a:r>
            <a:endParaRPr lang="en-US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Some </a:t>
            </a:r>
            <a:r>
              <a:rPr lang="en-US" dirty="0">
                <a:latin typeface="Comic Sans MS" pitchFamily="66" charset="0"/>
              </a:rPr>
              <a:t>advanced features may need a </a:t>
            </a:r>
            <a:r>
              <a:rPr lang="en-US" b="1" dirty="0">
                <a:latin typeface="Comic Sans MS" pitchFamily="66" charset="0"/>
              </a:rPr>
              <a:t>paid plan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It </a:t>
            </a:r>
            <a:r>
              <a:rPr lang="en-US" b="1" dirty="0">
                <a:latin typeface="Comic Sans MS" pitchFamily="66" charset="0"/>
              </a:rPr>
              <a:t>requires the internet </a:t>
            </a:r>
            <a:r>
              <a:rPr lang="en-US" dirty="0">
                <a:latin typeface="Comic Sans MS" pitchFamily="66" charset="0"/>
              </a:rPr>
              <a:t>to access or update projects.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If </a:t>
            </a:r>
            <a:r>
              <a:rPr lang="en-US" dirty="0">
                <a:latin typeface="Comic Sans MS" pitchFamily="66" charset="0"/>
              </a:rPr>
              <a:t>not careful, users may upload </a:t>
            </a:r>
            <a:r>
              <a:rPr lang="en-US" b="1" dirty="0">
                <a:latin typeface="Comic Sans MS" pitchFamily="66" charset="0"/>
              </a:rPr>
              <a:t>sensitive/private information</a:t>
            </a:r>
            <a:r>
              <a:rPr lang="en-US" dirty="0">
                <a:latin typeface="Comic Sans MS" pitchFamily="66" charset="0"/>
              </a:rPr>
              <a:t>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Comic Sans MS" pitchFamily="66" charset="0"/>
              </a:rPr>
              <a:t>Not </a:t>
            </a:r>
            <a:r>
              <a:rPr lang="en-US" dirty="0">
                <a:latin typeface="Comic Sans MS" pitchFamily="66" charset="0"/>
              </a:rPr>
              <a:t>suitable for </a:t>
            </a:r>
            <a:r>
              <a:rPr lang="en-US" b="1" dirty="0">
                <a:latin typeface="Comic Sans MS" pitchFamily="66" charset="0"/>
              </a:rPr>
              <a:t>storing large files </a:t>
            </a:r>
            <a:r>
              <a:rPr lang="en-US" dirty="0">
                <a:latin typeface="Comic Sans MS" pitchFamily="66" charset="0"/>
              </a:rPr>
              <a:t>like videos or </a:t>
            </a:r>
            <a:r>
              <a:rPr lang="en-US" dirty="0" smtClean="0">
                <a:latin typeface="Comic Sans MS" pitchFamily="66" charset="0"/>
              </a:rPr>
              <a:t>non-code </a:t>
            </a:r>
            <a:r>
              <a:rPr lang="en-US" dirty="0">
                <a:latin typeface="Comic Sans MS" pitchFamily="66" charset="0"/>
              </a:rPr>
              <a:t>content.</a:t>
            </a:r>
          </a:p>
        </p:txBody>
      </p:sp>
    </p:spTree>
    <p:extLst>
      <p:ext uri="{BB962C8B-B14F-4D97-AF65-F5344CB8AC3E}">
        <p14:creationId xmlns:p14="http://schemas.microsoft.com/office/powerpoint/2010/main" val="189981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8229600" cy="85725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itchFamily="66" charset="0"/>
              </a:rPr>
              <a:t>PRACTICAL TASK 7.1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95350"/>
            <a:ext cx="8763000" cy="424815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Comic Sans MS" pitchFamily="66" charset="0"/>
              </a:rPr>
              <a:t>Steps for creating the </a:t>
            </a:r>
            <a:r>
              <a:rPr lang="en-US" dirty="0" err="1">
                <a:latin typeface="Comic Sans MS" pitchFamily="66" charset="0"/>
              </a:rPr>
              <a:t>GitHub</a:t>
            </a:r>
            <a:r>
              <a:rPr lang="en-US" dirty="0">
                <a:latin typeface="Comic Sans MS" pitchFamily="66" charset="0"/>
              </a:rPr>
              <a:t> account </a:t>
            </a:r>
            <a:endParaRPr lang="en-US" dirty="0" smtClean="0">
              <a:latin typeface="Comic Sans MS" pitchFamily="66" charset="0"/>
            </a:endParaRPr>
          </a:p>
          <a:p>
            <a:pPr marL="514350" indent="-514350">
              <a:buAutoNum type="arabicPeriod"/>
            </a:pPr>
            <a:r>
              <a:rPr lang="en-US" dirty="0" smtClean="0">
                <a:latin typeface="Comic Sans MS" pitchFamily="66" charset="0"/>
              </a:rPr>
              <a:t>Go </a:t>
            </a:r>
            <a:r>
              <a:rPr lang="en-US" dirty="0">
                <a:latin typeface="Comic Sans MS" pitchFamily="66" charset="0"/>
              </a:rPr>
              <a:t>to the </a:t>
            </a:r>
            <a:r>
              <a:rPr lang="en-US" dirty="0" err="1">
                <a:latin typeface="Comic Sans MS" pitchFamily="66" charset="0"/>
              </a:rPr>
              <a:t>GitHub</a:t>
            </a:r>
            <a:r>
              <a:rPr lang="en-US" dirty="0">
                <a:latin typeface="Comic Sans MS" pitchFamily="66" charset="0"/>
              </a:rPr>
              <a:t> website: https://github.com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2</a:t>
            </a:r>
            <a:r>
              <a:rPr lang="en-US" dirty="0">
                <a:latin typeface="Comic Sans MS" pitchFamily="66" charset="0"/>
              </a:rPr>
              <a:t>. Click on “Sign up” (top right corner)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3</a:t>
            </a:r>
            <a:r>
              <a:rPr lang="en-US" dirty="0">
                <a:latin typeface="Comic Sans MS" pitchFamily="66" charset="0"/>
              </a:rPr>
              <a:t>. Enter your email address, then click Continue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4</a:t>
            </a:r>
            <a:r>
              <a:rPr lang="en-US" dirty="0">
                <a:latin typeface="Comic Sans MS" pitchFamily="66" charset="0"/>
              </a:rPr>
              <a:t>. Create a username (e.g., Kinley2025)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5</a:t>
            </a:r>
            <a:r>
              <a:rPr lang="en-US" dirty="0">
                <a:latin typeface="Comic Sans MS" pitchFamily="66" charset="0"/>
              </a:rPr>
              <a:t>. Create a strong password, then click Continue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6</a:t>
            </a:r>
            <a:r>
              <a:rPr lang="en-US" dirty="0">
                <a:latin typeface="Comic Sans MS" pitchFamily="66" charset="0"/>
              </a:rPr>
              <a:t>. Complete the verification puzzle or email check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7</a:t>
            </a:r>
            <a:r>
              <a:rPr lang="en-US" dirty="0">
                <a:latin typeface="Comic Sans MS" pitchFamily="66" charset="0"/>
              </a:rPr>
              <a:t>. Choose the Free plan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8</a:t>
            </a:r>
            <a:r>
              <a:rPr lang="en-US" dirty="0">
                <a:latin typeface="Comic Sans MS" pitchFamily="66" charset="0"/>
              </a:rPr>
              <a:t>. (Optional) Answer or skip setup questions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9</a:t>
            </a:r>
            <a:r>
              <a:rPr lang="en-US" dirty="0">
                <a:latin typeface="Comic Sans MS" pitchFamily="66" charset="0"/>
              </a:rPr>
              <a:t>. Go to your email and click the verification link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10.You </a:t>
            </a:r>
            <a:r>
              <a:rPr lang="en-US" dirty="0">
                <a:latin typeface="Comic Sans MS" pitchFamily="66" charset="0"/>
              </a:rPr>
              <a:t>can now start using </a:t>
            </a:r>
            <a:r>
              <a:rPr lang="en-US" dirty="0" err="1">
                <a:latin typeface="Comic Sans MS" pitchFamily="66" charset="0"/>
              </a:rPr>
              <a:t>GitHub</a:t>
            </a:r>
            <a:r>
              <a:rPr lang="en-US" dirty="0">
                <a:latin typeface="Comic Sans MS" pitchFamily="66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2058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8229600" cy="6131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omic Sans MS" pitchFamily="66" charset="0"/>
              </a:rPr>
              <a:t>PRACTICAL TASK 7.1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6750"/>
            <a:ext cx="8229600" cy="447675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Steps for creating a repository </a:t>
            </a:r>
            <a:endParaRPr lang="en-US" dirty="0" smtClean="0">
              <a:latin typeface="Comic Sans MS" pitchFamily="66" charset="0"/>
            </a:endParaRPr>
          </a:p>
          <a:p>
            <a:pPr marL="514350" indent="-514350">
              <a:buAutoNum type="arabicPeriod"/>
            </a:pPr>
            <a:r>
              <a:rPr lang="en-US" dirty="0" smtClean="0">
                <a:latin typeface="Comic Sans MS" pitchFamily="66" charset="0"/>
              </a:rPr>
              <a:t>Log </a:t>
            </a:r>
            <a:r>
              <a:rPr lang="en-US" dirty="0">
                <a:latin typeface="Comic Sans MS" pitchFamily="66" charset="0"/>
              </a:rPr>
              <a:t>in to https://github.com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2</a:t>
            </a:r>
            <a:r>
              <a:rPr lang="en-US" dirty="0">
                <a:latin typeface="Comic Sans MS" pitchFamily="66" charset="0"/>
              </a:rPr>
              <a:t>. Click the “+” icon at the top-right corner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3</a:t>
            </a:r>
            <a:r>
              <a:rPr lang="en-US" dirty="0">
                <a:latin typeface="Comic Sans MS" pitchFamily="66" charset="0"/>
              </a:rPr>
              <a:t>. Select “New repository”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4</a:t>
            </a:r>
            <a:r>
              <a:rPr lang="en-US" dirty="0">
                <a:latin typeface="Comic Sans MS" pitchFamily="66" charset="0"/>
              </a:rPr>
              <a:t>. Type a repository name (e.g., </a:t>
            </a:r>
            <a:r>
              <a:rPr lang="en-US" dirty="0" smtClean="0">
                <a:latin typeface="Comic Sans MS" pitchFamily="66" charset="0"/>
              </a:rPr>
              <a:t>my-first-repo)</a:t>
            </a: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5</a:t>
            </a:r>
            <a:r>
              <a:rPr lang="en-US" dirty="0">
                <a:latin typeface="Comic Sans MS" pitchFamily="66" charset="0"/>
              </a:rPr>
              <a:t>. Add a short description (e.g., My first </a:t>
            </a:r>
            <a:r>
              <a:rPr lang="en-US" dirty="0" err="1">
                <a:latin typeface="Comic Sans MS" pitchFamily="66" charset="0"/>
              </a:rPr>
              <a:t>GitHub</a:t>
            </a:r>
            <a:r>
              <a:rPr lang="en-US" dirty="0">
                <a:latin typeface="Comic Sans MS" pitchFamily="66" charset="0"/>
              </a:rPr>
              <a:t> project)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6</a:t>
            </a:r>
            <a:r>
              <a:rPr lang="en-US" dirty="0">
                <a:latin typeface="Comic Sans MS" pitchFamily="66" charset="0"/>
              </a:rPr>
              <a:t>. Choose Public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7</a:t>
            </a:r>
            <a:r>
              <a:rPr lang="en-US" dirty="0">
                <a:latin typeface="Comic Sans MS" pitchFamily="66" charset="0"/>
              </a:rPr>
              <a:t>. Check the box: “Add a README file”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8</a:t>
            </a:r>
            <a:r>
              <a:rPr lang="en-US" dirty="0">
                <a:latin typeface="Comic Sans MS" pitchFamily="66" charset="0"/>
              </a:rPr>
              <a:t>. Click “Create repository”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9</a:t>
            </a:r>
            <a:r>
              <a:rPr lang="en-US" dirty="0">
                <a:latin typeface="Comic Sans MS" pitchFamily="66" charset="0"/>
              </a:rPr>
              <a:t>. (Optional) Click “Add file” → “Upload files”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10.Upload </a:t>
            </a:r>
            <a:r>
              <a:rPr lang="en-US" dirty="0">
                <a:latin typeface="Comic Sans MS" pitchFamily="66" charset="0"/>
              </a:rPr>
              <a:t>a file like hello.txt or aboutme.md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11.Click </a:t>
            </a:r>
            <a:r>
              <a:rPr lang="en-US" dirty="0">
                <a:latin typeface="Comic Sans MS" pitchFamily="66" charset="0"/>
              </a:rPr>
              <a:t>“Commit changes” to save the file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12.Copy </a:t>
            </a:r>
            <a:r>
              <a:rPr lang="en-US" dirty="0">
                <a:latin typeface="Comic Sans MS" pitchFamily="66" charset="0"/>
              </a:rPr>
              <a:t>the URL of your repository. </a:t>
            </a:r>
            <a:endParaRPr lang="en-US" dirty="0" smtClean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itchFamily="66" charset="0"/>
              </a:rPr>
              <a:t>13.Share </a:t>
            </a:r>
            <a:r>
              <a:rPr lang="en-US" dirty="0">
                <a:latin typeface="Comic Sans MS" pitchFamily="66" charset="0"/>
              </a:rPr>
              <a:t>the link with your teacher</a:t>
            </a:r>
          </a:p>
        </p:txBody>
      </p:sp>
    </p:spTree>
    <p:extLst>
      <p:ext uri="{BB962C8B-B14F-4D97-AF65-F5344CB8AC3E}">
        <p14:creationId xmlns:p14="http://schemas.microsoft.com/office/powerpoint/2010/main" val="85697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537</Words>
  <Application>Microsoft Office PowerPoint</Application>
  <PresentationFormat>On-screen Show (16:9)</PresentationFormat>
  <Paragraphs>70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GitHub</vt:lpstr>
      <vt:lpstr>Introduction to GitHub</vt:lpstr>
      <vt:lpstr>Features of GitHub</vt:lpstr>
      <vt:lpstr>Advantages of GitHub </vt:lpstr>
      <vt:lpstr>Disadvantages of GitHub.</vt:lpstr>
      <vt:lpstr>PRACTICAL TASK 7.1</vt:lpstr>
      <vt:lpstr>PRACTICAL TASK 7.1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Hub</dc:title>
  <dc:creator>dell</dc:creator>
  <cp:lastModifiedBy>dell</cp:lastModifiedBy>
  <cp:revision>16</cp:revision>
  <dcterms:created xsi:type="dcterms:W3CDTF">2006-08-16T00:00:00Z</dcterms:created>
  <dcterms:modified xsi:type="dcterms:W3CDTF">2026-05-25T05:55:56Z</dcterms:modified>
</cp:coreProperties>
</file>